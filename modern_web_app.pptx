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2A"/>
            </a:gs>
            <a:gs pos="50000">
              <a:srgbClr val="1B263B"/>
            </a:gs>
            <a:gs pos="100000">
              <a:srgbClr val="0D1B2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Decorative top-right circle -->
      <p:sp>
        <p:nvSpPr>
          <p:cNvPr id="10" name="Decoration Circle 1"/>
          <p:cNvSpPr/>
          <p:nvPr/>
        </p:nvSpPr>
        <p:spPr>
          <a:xfrm>
            <a:off x="10500000" y="-500000"/>
            <a:ext cx="2500000" cy="2500000"/>
          </a:xfrm>
          <a:prstGeom prst="ellipse">
            <a:avLst/>
          </a:prstGeom>
          <a:gradFill rotWithShape="1">
            <a:gsLst>
              <a:gs pos="0">
                <a:srgbClr val="00D4FF">
                  <a:alpha val="30000"/>
                </a:srgbClr>
              </a:gs>
              <a:gs pos="100000">
                <a:srgbClr val="7B2CBF">
                  <a:alpha val="10000"/>
                </a:srgbClr>
              </a:gs>
            </a:gsLst>
            <a:lin ang="2700000" scaled="0"/>
          </a:gradFill>
          <a:ln w="0">
            <a:noFill/>
          </a:ln>
        </p:spPr>
        <p:txBody>
          <a:bodyPr/>
          <a:lstStyle/>
          <a:p>
            <a:endParaRPr/>
          </a:p>
        </p:txBody>
      </p:sp>
      <!-- Decorative bottom-left circle -->
      <p:sp>
        <p:nvSpPr>
          <p:cNvPr id="11" name="Decoration Circle 2"/>
          <p:cNvSpPr/>
          <p:nvPr/>
        </p:nvSpPr>
        <p:spPr>
          <a:xfrm>
            <a:off x="-800000" y="5000000"/>
            <a:ext cx="3000000" cy="3000000"/>
          </a:xfrm>
          <a:prstGeom prst="ellipse">
            <a:avLst/>
          </a:prstGeom>
          <a:gradFill rotWithShape="1">
            <a:gsLst>
              <a:gs pos="0">
                <a:srgbClr val="7B2CBF">
                  <a:alpha val="25000"/>
                </a:srgbClr>
              </a:gs>
              <a:gs pos="100000">
                <a:srgbClr val="E63946">
                  <a:alpha val="5000"/>
                </a:srgbClr>
              </a:gs>
            </a:gsLst>
            <a:lin ang="2700000" scaled="0"/>
          </a:gradFill>
          <a:ln w="0">
            <a:noFill/>
          </a:ln>
        </p:spPr>
        <p:txBody>
          <a:bodyPr/>
          <a:lstStyle/>
          <a:p>
            <a:endParaRPr/>
          </a:p>
        </p:txBody>
      </p:sp>
      <!-- Accent line at bottom -->
      <p:sp>
        <p:nvSpPr>
          <p:cNvPr id="12" name="Accent Line"/>
          <p:cNvSpPr/>
          <p:nvPr/>
        </p:nvSpPr>
        <p:spPr>
          <a:xfrm>
            <a:off x="0" y="6750000"/>
            <a:ext cx="12192000" cy="108000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50000">
                <a:srgbClr val="7B2CBF"/>
              </a:gs>
              <a:gs pos="100000">
                <a:srgbClr val="E63946"/>
              </a:gs>
            </a:gsLst>
            <a:lin ang="0" scaled="0"/>
          </a:gradFill>
          <a:ln w="0">
            <a:noFill/>
          </a:ln>
        </p:spPr>
        <p:txBody>
          <a:bodyPr/>
          <a:lstStyle/>
          <a:p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architecture.sv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Decorative floating shapes -->
      <p:sp>
        <p:nvSpPr>
          <p:cNvPr id="20" name="Float Shape 1"/>
          <p:cNvSpPr/>
          <p:nvPr/>
        </p:nvSpPr>
        <p:spPr>
          <a:xfrm rot="2700000">
            <a:off x="1000000" y="1500000"/>
            <a:ext cx="400000" cy="400000"/>
          </a:xfrm>
          <a:prstGeom prst="rect">
            <a:avLst/>
          </a:prstGeom>
          <a:noFill/>
          <a:ln w="19050">
            <a:solidFill>
              <a:srgbClr val="00D4FF">
                <a:alpha val="60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Float Shape 2"/>
          <p:cNvSpPr/>
          <p:nvPr/>
        </p:nvSpPr>
        <p:spPr>
          <a:xfrm>
            <a:off x="10500000" y="4500000"/>
            <a:ext cx="300000" cy="300000"/>
          </a:xfrm>
          <a:prstGeom prst="ellipse">
            <a:avLst/>
          </a:prstGeom>
          <a:solidFill>
            <a:srgbClr val="7B2CBF">
              <a:alpha val="4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Float Shape 3"/>
          <p:cNvSpPr/>
          <p:nvPr/>
        </p:nvSpPr>
        <p:spPr>
          <a:xfrm rot="900000">
            <a:off x="11000000" y="1200000"/>
            <a:ext cx="250000" cy="250000"/>
          </a:xfrm>
          <a:prstGeom prst="triangle">
            <a:avLst/>
          </a:prstGeom>
          <a:noFill/>
          <a:ln w="19050">
            <a:solidFill>
              <a:srgbClr val="2EC4B6">
                <a:alpha val="50000"/>
              </a:srgbClr>
            </a:solidFill>
          </a:ln>
        </p:spPr>
        <p:txBody>
          <a:bodyPr/>
          <a:lstStyle/>
          <a:p>
            <a:endParaRPr/>
          </a:p>
        </p:txBody>
      </p:sp>
      <!-- Main Title -->
      <p:sp>
        <p:nvSpPr>
          <p:cNvPr id="2" name="Title"/>
          <p:cNvSpPr/>
          <p:nvPr/>
        </p:nvSpPr>
        <p:spPr>
          <a:xfrm>
            <a:off x="800000" y="2200000"/>
            <a:ext cx="10592000" cy="120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lang="en-US" sz="6600" b="1">
                <a:solidFill>
                  <a:srgbClr val="FFFFFF"/>
                </a:solidFill>
                <a:latin typeface="Segoe UI Light"/>
              </a:rPr>
              <a:t>Building </a:t>
            </a:r>
            <a:r>
              <a:rPr lang="en-US" sz="6600" b="1">
                <a:solidFill>
                  <a:srgbClr val="00D4FF"/>
                </a:solidFill>
                <a:latin typeface="Segoe UI Light"/>
              </a:rPr>
              <a:t>Modern</a:t>
            </a:r>
          </a:p>
        </p:txBody>
      </p:sp>
      <!-- Second line of title -->
      <p:sp>
        <p:nvSpPr>
          <p:cNvPr id="3" name="Title Line 2"/>
          <p:cNvSpPr/>
          <p:nvPr/>
        </p:nvSpPr>
        <p:spPr>
          <a:xfrm>
            <a:off x="800000" y="3200000"/>
            <a:ext cx="10592000" cy="120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lang="en-US" sz="6600" b="1">
                <a:solidFill>
                  <a:srgbClr val="FFFFFF"/>
                </a:solidFill>
                <a:latin typeface="Segoe UI Light"/>
              </a:rPr>
              <a:t>Web Applications</a:t>
            </a:r>
          </a:p>
        </p:txBody>
      </p:sp>
      <!-- Subtitle -->
      <p:sp>
        <p:nvSpPr>
          <p:cNvPr id="4" name="Subtitle"/>
          <p:cNvSpPr/>
          <p:nvPr/>
        </p:nvSpPr>
        <p:spPr>
          <a:xfrm>
            <a:off x="800000" y="4500000"/>
            <a:ext cx="10592000" cy="60000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lang="en-US" sz="2400">
                <a:solidFill>
                  <a:srgbClr val="E0E1DD"/>
                </a:solidFill>
                <a:latin typeface="Segoe UI"/>
              </a:rPr>
              <a:t>Architecture, Components &amp; Best Practices</a:t>
            </a:r>
          </a:p>
        </p:txBody>
      </p:sp>
      <!-- Accent bar under title -->
      <p:sp>
        <p:nvSpPr>
          <p:cNvPr id="5" name="Title Accent"/>
          <p:cNvSpPr/>
          <p:nvPr/>
        </p:nvSpPr>
        <p:spPr>
          <a:xfrm>
            <a:off x="800000" y="4350000"/>
            <a:ext cx="2000000" cy="50000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100000">
                <a:srgbClr val="7B2CBF"/>
              </a:gs>
            </a:gsLst>
            <a:lin ang="0" scaled="0"/>
          </a:gradFill>
          <a:ln w="0">
            <a:noFill/>
          </a:ln>
        </p:spPr>
        <p:txBody>
          <a:bodyPr/>
          <a:lstStyle/>
          <a:p>
            <a:endParaRPr/>
          </a:p>
        </p:txBody>
      </p:sp>
      <!-- Page indicator dots -->
      <p:sp>
        <p:nvSpPr>
          <p:cNvPr id="30" name="Dot 1"/>
          <p:cNvSpPr/>
          <p:nvPr/>
        </p:nvSpPr>
        <p:spPr>
          <a:xfrm>
            <a:off x="800000" y="6200000"/>
            <a:ext cx="80000" cy="80000"/>
          </a:xfrm>
          <a:prstGeom prst="ellipse">
            <a:avLst/>
          </a:prstGeom>
          <a:solidFill>
            <a:srgbClr val="00D4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Dot 2"/>
          <p:cNvSpPr/>
          <p:nvPr/>
        </p:nvSpPr>
        <p:spPr>
          <a:xfrm>
            <a:off x="920000" y="6200000"/>
            <a:ext cx="80000" cy="80000"/>
          </a:xfrm>
          <a:prstGeom prst="ellipse">
            <a:avLst/>
          </a:prstGeom>
          <a:solidFill>
            <a:srgbClr val="415A77">
              <a:alpha val="5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Dot 3"/>
          <p:cNvSpPr/>
          <p:nvPr/>
        </p:nvSpPr>
        <p:spPr>
          <a:xfrm>
            <a:off x="1040000" y="6200000"/>
            <a:ext cx="80000" cy="80000"/>
          </a:xfrm>
          <a:prstGeom prst="ellipse">
            <a:avLst/>
          </a:prstGeom>
          <a:solidFill>
            <a:srgbClr val="415A77">
              <a:alpha val="5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Dot 4"/>
          <p:cNvSpPr/>
          <p:nvPr/>
        </p:nvSpPr>
        <p:spPr>
          <a:xfrm>
            <a:off x="1160000" y="6200000"/>
            <a:ext cx="80000" cy="80000"/>
          </a:xfrm>
          <a:prstGeom prst="ellipse">
            <a:avLst/>
          </a:prstGeom>
          <a:solidFill>
            <a:srgbClr val="415A77">
              <a:alpha val="5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Dot 5"/>
          <p:cNvSpPr/>
          <p:nvPr/>
        </p:nvSpPr>
        <p:spPr>
          <a:xfrm>
            <a:off x="1280000" y="6200000"/>
            <a:ext cx="80000" cy="80000"/>
          </a:xfrm>
          <a:prstGeom prst="ellipse">
            <a:avLst/>
          </a:prstGeom>
          <a:solidFill>
            <a:srgbClr val="415A77">
              <a:alpha val="5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-->
      <p:sp>
        <p:nvSpPr>
          <p:cNvPr id="2" name="Title"/>
          <p:cNvSpPr/>
          <p:nvPr/>
        </p:nvSpPr>
        <p:spPr>
          <a:xfrm>
            <a:off x="800000" y="300000"/>
            <a:ext cx="10592000" cy="700000"/>
          </a:xfrm>
          <a:prstGeom prst="rect">
            <a:avLst/>
          </a:prstGeom>
        </p:spPr>
        <p:txBody>
          <a:bodyPr anchor="b"/>
          <a:lstStyle/>
          <a:p>
            <a:pPr algn="l"/>
            <a:r>
              <a:rPr lang="en-US" sz="4000" b="1">
                <a:solidFill>
                  <a:srgbClr val="FFFFFF"/>
                </a:solidFill>
                <a:latin typeface="Segoe UI Light"/>
              </a:rPr>
              <a:t>System </a:t>
            </a:r>
            <a:r>
              <a:rPr lang="en-US" sz="4000" b="1">
                <a:solidFill>
                  <a:srgbClr val="00D4FF"/>
                </a:solidFill>
                <a:latin typeface="Segoe UI Light"/>
              </a:rPr>
              <a:t>Architecture</a:t>
            </a:r>
          </a:p>
        </p:txBody>
      </p:sp>
      <!-- Accent bar -->
      <p:sp>
        <p:nvSpPr>
          <p:cNvPr id="3" name="Accent"/>
          <p:cNvSpPr/>
          <p:nvPr/>
        </p:nvSpPr>
        <p:spPr>
          <a:xfrm>
            <a:off x="800000" y="1000000"/>
            <a:ext cx="1500000" cy="400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7B2CBF"/>
              </a:gs>
            </a:gsLst>
            <a:lin ang="0" scaled="0"/>
          </a:gradFill>
          <a:ln w="0">
            <a:noFill/>
          </a:ln>
        </p:spPr>
        <p:txBody>
          <a:bodyPr/>
          <a:lstStyle/>
          <a:p>
            <a:endParaRPr/>
          </a:p>
        </p:txBody>
      </p:sp>
      <!-- SVG Architecture Diagram -->
      <p:pic>
        <p:nvPicPr>
          <p:cNvPr id="4" name="Architectur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150000"/>
            <a:ext cx="10992000" cy="5300000"/>
          </a:xfrm>
          <a:prstGeom prst="rect">
            <a:avLst/>
          </a:prstGeom>
        </p:spPr>
      </p:pic>
      <!-- Page indicator -->
      <p:sp>
        <p:nvSpPr>
          <p:cNvPr id="30" name="Dot 1"/>
          <p:cNvSpPr/>
          <p:nvPr/>
        </p:nvSpPr>
        <p:spPr>
          <a:xfrm>
            <a:off x="800000" y="6200000"/>
            <a:ext cx="80000" cy="80000"/>
          </a:xfrm>
          <a:prstGeom prst="ellipse">
            <a:avLst/>
          </a:prstGeom>
          <a:solidFill>
            <a:srgbClr val="415A77">
              <a:alpha val="5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Dot 2"/>
          <p:cNvSpPr/>
          <p:nvPr/>
        </p:nvSpPr>
        <p:spPr>
          <a:xfrm>
            <a:off x="920000" y="6200000"/>
            <a:ext cx="80000" cy="80000"/>
          </a:xfrm>
          <a:prstGeom prst="ellipse">
            <a:avLst/>
          </a:prstGeom>
          <a:solidFill>
            <a:srgbClr val="00D4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Dot 3"/>
          <p:cNvSpPr/>
          <p:nvPr/>
        </p:nvSpPr>
        <p:spPr>
          <a:xfrm>
            <a:off x="1040000" y="6200000"/>
            <a:ext cx="80000" cy="80000"/>
          </a:xfrm>
          <a:prstGeom prst="ellipse">
            <a:avLst/>
          </a:prstGeom>
          <a:solidFill>
            <a:srgbClr val="415A77">
              <a:alpha val="5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Dot 4"/>
          <p:cNvSpPr/>
          <p:nvPr/>
        </p:nvSpPr>
        <p:spPr>
          <a:xfrm>
            <a:off x="1160000" y="6200000"/>
            <a:ext cx="80000" cy="80000"/>
          </a:xfrm>
          <a:prstGeom prst="ellipse">
            <a:avLst/>
          </a:prstGeom>
          <a:solidFill>
            <a:srgbClr val="415A77">
              <a:alpha val="5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Dot 5"/>
          <p:cNvSpPr/>
          <p:nvPr/>
        </p:nvSpPr>
        <p:spPr>
          <a:xfrm>
            <a:off x="1280000" y="6200000"/>
            <a:ext cx="80000" cy="80000"/>
          </a:xfrm>
          <a:prstGeom prst="ellipse">
            <a:avLst/>
          </a:prstGeom>
          <a:solidFill>
            <a:srgbClr val="415A77">
              <a:alpha val="5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-->
      <p:sp>
        <p:nvSpPr>
          <p:cNvPr id="2" name="Title"/>
          <p:cNvSpPr/>
          <p:nvPr/>
        </p:nvSpPr>
        <p:spPr>
          <a:xfrm>
            <a:off x="800000" y="300000"/>
            <a:ext cx="10592000" cy="700000"/>
          </a:xfrm>
          <a:prstGeom prst="rect">
            <a:avLst/>
          </a:prstGeom>
        </p:spPr>
        <p:txBody>
          <a:bodyPr anchor="b"/>
          <a:lstStyle/>
          <a:p>
            <a:pPr algn="l"/>
            <a:r>
              <a:rPr lang="en-US" sz="4000" b="1">
                <a:solidFill>
                  <a:srgbClr val="FFFFFF"/>
                </a:solidFill>
                <a:latin typeface="Segoe UI Light"/>
              </a:rPr>
              <a:t>Core </a:t>
            </a:r>
            <a:r>
              <a:rPr lang="en-US" sz="4000" b="1">
                <a:solidFill>
                  <a:srgbClr val="00D4FF"/>
                </a:solidFill>
                <a:latin typeface="Segoe UI Light"/>
              </a:rPr>
              <a:t>Components</a:t>
            </a:r>
          </a:p>
        </p:txBody>
      </p:sp>
      <!-- Accent bar -->
      <p:sp>
        <p:nvSpPr>
          <p:cNvPr id="3" name="Accent"/>
          <p:cNvSpPr/>
          <p:nvPr/>
        </p:nvSpPr>
        <p:spPr>
          <a:xfrm>
            <a:off x="800000" y="1000000"/>
            <a:ext cx="1500000" cy="400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7B2CBF"/>
              </a:gs>
            </a:gsLst>
            <a:lin ang="0" scaled="0"/>
          </a:gradFill>
          <a:ln w="0">
            <a:noFill/>
          </a:ln>
        </p:spPr>
        <p:txBody>
          <a:bodyPr/>
          <a:lstStyle/>
          <a:p>
            <a:endParaRPr/>
          </a:p>
        </p:txBody>
      </p:sp>
      <!-- Card 1: Frontend -->
      <p:sp>
        <p:nvSpPr>
          <p:cNvPr id="10" name="Card 1 BG"/>
          <p:cNvSpPr/>
          <p:nvPr/>
        </p:nvSpPr>
        <p:spPr>
          <a:xfrm>
            <a:off x="800000" y="1300000"/>
            <a:ext cx="3400000" cy="4800000"/>
          </a:xfrm>
          <a:prstGeom prst="roundRect">
            <a:avLst>
              <a:gd name="adj" fmla="val 5000"/>
            </a:avLst>
          </a:prstGeom>
          <a:solidFill>
            <a:srgbClr val="1B263B"/>
          </a:solidFill>
          <a:ln w="19050">
            <a:solidFill>
              <a:srgbClr val="00D4FF">
                <a:alpha val="40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Card 1 Icon BG"/>
          <p:cNvSpPr/>
          <p:nvPr/>
        </p:nvSpPr>
        <p:spPr>
          <a:xfrm>
            <a:off x="1000000" y="1500000"/>
            <a:ext cx="600000" cy="600000"/>
          </a:xfrm>
          <a:prstGeom prst="ellipse">
            <a:avLst/>
          </a:prstGeom>
          <a:gradFill>
            <a:gsLst>
              <a:gs pos="0">
                <a:srgbClr val="00D4FF"/>
              </a:gs>
              <a:gs pos="100000">
                <a:srgbClr val="0099CC"/>
              </a:gs>
            </a:gsLst>
            <a:lin ang="5400000" scaled="0"/>
          </a:gra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Card 1 Icon"/>
          <p:cNvSpPr/>
          <p:nvPr/>
        </p:nvSpPr>
        <p:spPr>
          <a:xfrm>
            <a:off x="1100000" y="1600000"/>
            <a:ext cx="400000" cy="400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Segoe UI"/>
              </a:rPr>
              <a:t>&lt;/&gt;</a:t>
            </a:r>
          </a:p>
        </p:txBody>
      </p:sp>
      <p:sp>
        <p:nvSpPr>
          <p:cNvPr id="13" name="Card 1 Title"/>
          <p:cNvSpPr/>
          <p:nvPr/>
        </p:nvSpPr>
        <p:spPr>
          <a:xfrm>
            <a:off x="1000000" y="2200000"/>
            <a:ext cx="3000000" cy="400000"/>
          </a:xfrm>
          <a:prstGeom prst="rect">
            <a:avLst/>
          </a:prstGeom>
        </p:spPr>
        <p:txBody>
          <a:bodyPr anchor="b"/>
          <a:lstStyle/>
          <a:p>
            <a:r>
              <a:rPr lang="en-US" sz="2400" b="1">
                <a:solidFill>
                  <a:srgbClr val="00D4FF"/>
                </a:solidFill>
                <a:latin typeface="Segoe UI"/>
              </a:rPr>
              <a:t>Frontend</a:t>
            </a:r>
          </a:p>
        </p:txBody>
      </p:sp>
      <p:sp>
        <p:nvSpPr>
          <p:cNvPr id="14" name="Card 1 Content"/>
          <p:cNvSpPr/>
          <p:nvPr/>
        </p:nvSpPr>
        <p:spPr>
          <a:xfrm>
            <a:off x="1000000" y="2650000"/>
            <a:ext cx="3000000" cy="3200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E0E1DD"/>
                </a:solidFill>
                <a:latin typeface="Segoe UI"/>
              </a:rPr>
              <a:t>Frameworks</a:t>
            </a:r>
          </a:p>
          <a:p>
            <a:r>
              <a:rPr lang="en-US" sz="1400">
                <a:solidFill>
                  <a:srgbClr val="778DA9"/>
                </a:solidFill>
                <a:latin typeface="Segoe UI"/>
              </a:rPr>
              <a:t>React / Vue / Angular / Svelte</a:t>
            </a:r>
          </a:p>
          <a:p>
            <a:endParaRPr lang="en-US" sz="800"/>
          </a:p>
          <a:p>
            <a:r>
              <a:rPr lang="en-US" sz="1600">
                <a:solidFill>
                  <a:srgbClr val="E0E1DD"/>
                </a:solidFill>
                <a:latin typeface="Segoe UI"/>
              </a:rPr>
              <a:t>Styling</a:t>
            </a:r>
          </a:p>
          <a:p>
            <a:r>
              <a:rPr lang="en-US" sz="1400">
                <a:solidFill>
                  <a:srgbClr val="778DA9"/>
                </a:solidFill>
                <a:latin typeface="Segoe UI"/>
              </a:rPr>
              <a:t>Tailwind / Styled Components</a:t>
            </a:r>
          </a:p>
          <a:p>
            <a:endParaRPr lang="en-US" sz="800"/>
          </a:p>
          <a:p>
            <a:r>
              <a:rPr lang="en-US" sz="1600">
                <a:solidFill>
                  <a:srgbClr val="E0E1DD"/>
                </a:solidFill>
                <a:latin typeface="Segoe UI"/>
              </a:rPr>
              <a:t>State Management</a:t>
            </a:r>
          </a:p>
          <a:p>
            <a:r>
              <a:rPr lang="en-US" sz="1400">
                <a:solidFill>
                  <a:srgbClr val="778DA9"/>
                </a:solidFill>
                <a:latin typeface="Segoe UI"/>
              </a:rPr>
              <a:t>Redux / Zustand / Pinia</a:t>
            </a:r>
          </a:p>
        </p:txBody>
      </p:sp>
      <!-- Card 2: Backend -->
      <p:sp>
        <p:nvSpPr>
          <p:cNvPr id="20" name="Card 2 BG"/>
          <p:cNvSpPr/>
          <p:nvPr/>
        </p:nvSpPr>
        <p:spPr>
          <a:xfrm>
            <a:off x="4400000" y="1300000"/>
            <a:ext cx="3400000" cy="4800000"/>
          </a:xfrm>
          <a:prstGeom prst="roundRect">
            <a:avLst>
              <a:gd name="adj" fmla="val 5000"/>
            </a:avLst>
          </a:prstGeom>
          <a:solidFill>
            <a:srgbClr val="1B263B"/>
          </a:solidFill>
          <a:ln w="19050">
            <a:solidFill>
              <a:srgbClr val="7B2CBF">
                <a:alpha val="40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ard 2 Icon BG"/>
          <p:cNvSpPr/>
          <p:nvPr/>
        </p:nvSpPr>
        <p:spPr>
          <a:xfrm>
            <a:off x="4600000" y="1500000"/>
            <a:ext cx="600000" cy="600000"/>
          </a:xfrm>
          <a:prstGeom prst="ellipse">
            <a:avLst/>
          </a:prstGeom>
          <a:gradFill>
            <a:gsLst>
              <a:gs pos="0">
                <a:srgbClr val="7B2CBF"/>
              </a:gs>
              <a:gs pos="100000">
                <a:srgbClr val="5A189A"/>
              </a:gs>
            </a:gsLst>
            <a:lin ang="5400000" scaled="0"/>
          </a:gra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Card 2 Icon"/>
          <p:cNvSpPr/>
          <p:nvPr/>
        </p:nvSpPr>
        <p:spPr>
          <a:xfrm>
            <a:off x="4700000" y="1600000"/>
            <a:ext cx="400000" cy="400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Segoe UI"/>
              </a:rPr>
              <a:t>{ }</a:t>
            </a:r>
          </a:p>
        </p:txBody>
      </p:sp>
      <p:sp>
        <p:nvSpPr>
          <p:cNvPr id="23" name="Card 2 Title"/>
          <p:cNvSpPr/>
          <p:nvPr/>
        </p:nvSpPr>
        <p:spPr>
          <a:xfrm>
            <a:off x="4600000" y="2200000"/>
            <a:ext cx="3000000" cy="400000"/>
          </a:xfrm>
          <a:prstGeom prst="rect">
            <a:avLst/>
          </a:prstGeom>
        </p:spPr>
        <p:txBody>
          <a:bodyPr anchor="b"/>
          <a:lstStyle/>
          <a:p>
            <a:r>
              <a:rPr lang="en-US" sz="2400" b="1">
                <a:solidFill>
                  <a:srgbClr val="7B2CBF"/>
                </a:solidFill>
                <a:latin typeface="Segoe UI"/>
              </a:rPr>
              <a:t>Backend</a:t>
            </a:r>
          </a:p>
        </p:txBody>
      </p:sp>
      <p:sp>
        <p:nvSpPr>
          <p:cNvPr id="24" name="Card 2 Content"/>
          <p:cNvSpPr/>
          <p:nvPr/>
        </p:nvSpPr>
        <p:spPr>
          <a:xfrm>
            <a:off x="4600000" y="2650000"/>
            <a:ext cx="3000000" cy="3200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E0E1DD"/>
                </a:solidFill>
                <a:latin typeface="Segoe UI"/>
              </a:rPr>
              <a:t>Languages</a:t>
            </a:r>
          </a:p>
          <a:p>
            <a:r>
              <a:rPr lang="en-US" sz="1400">
                <a:solidFill>
                  <a:srgbClr val="778DA9"/>
                </a:solidFill>
                <a:latin typeface="Segoe UI"/>
              </a:rPr>
              <a:t>Node.js / Python / Go / Rust</a:t>
            </a:r>
          </a:p>
          <a:p>
            <a:endParaRPr lang="en-US" sz="800"/>
          </a:p>
          <a:p>
            <a:r>
              <a:rPr lang="en-US" sz="1600">
                <a:solidFill>
                  <a:srgbClr val="E0E1DD"/>
                </a:solidFill>
                <a:latin typeface="Segoe UI"/>
              </a:rPr>
              <a:t>Frameworks</a:t>
            </a:r>
          </a:p>
          <a:p>
            <a:r>
              <a:rPr lang="en-US" sz="1400">
                <a:solidFill>
                  <a:srgbClr val="778DA9"/>
                </a:solidFill>
                <a:latin typeface="Segoe UI"/>
              </a:rPr>
              <a:t>Express / FastAPI / Gin</a:t>
            </a:r>
          </a:p>
          <a:p>
            <a:endParaRPr lang="en-US" sz="800"/>
          </a:p>
          <a:p>
            <a:r>
              <a:rPr lang="en-US" sz="1600">
                <a:solidFill>
                  <a:srgbClr val="E0E1DD"/>
                </a:solidFill>
                <a:latin typeface="Segoe UI"/>
              </a:rPr>
              <a:t>APIs</a:t>
            </a:r>
          </a:p>
          <a:p>
            <a:r>
              <a:rPr lang="en-US" sz="1400">
                <a:solidFill>
                  <a:srgbClr val="778DA9"/>
                </a:solidFill>
                <a:latin typeface="Segoe UI"/>
              </a:rPr>
              <a:t>REST / GraphQL / gRPC</a:t>
            </a:r>
          </a:p>
        </p:txBody>
      </p:sp>
      <!-- Card 3: Database -->
      <p:sp>
        <p:nvSpPr>
          <p:cNvPr id="40" name="Card 3 BG"/>
          <p:cNvSpPr/>
          <p:nvPr/>
        </p:nvSpPr>
        <p:spPr>
          <a:xfrm>
            <a:off x="8000000" y="1300000"/>
            <a:ext cx="3400000" cy="4800000"/>
          </a:xfrm>
          <a:prstGeom prst="roundRect">
            <a:avLst>
              <a:gd name="adj" fmla="val 5000"/>
            </a:avLst>
          </a:prstGeom>
          <a:solidFill>
            <a:srgbClr val="1B263B"/>
          </a:solidFill>
          <a:ln w="19050">
            <a:solidFill>
              <a:srgbClr val="2EC4B6">
                <a:alpha val="40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Card 3 Icon BG"/>
          <p:cNvSpPr/>
          <p:nvPr/>
        </p:nvSpPr>
        <p:spPr>
          <a:xfrm>
            <a:off x="8200000" y="1500000"/>
            <a:ext cx="600000" cy="600000"/>
          </a:xfrm>
          <a:prstGeom prst="ellipse">
            <a:avLst/>
          </a:prstGeom>
          <a:gradFill>
            <a:gsLst>
              <a:gs pos="0">
                <a:srgbClr val="2EC4B6"/>
              </a:gs>
              <a:gs pos="100000">
                <a:srgbClr val="1A936F"/>
              </a:gs>
            </a:gsLst>
            <a:lin ang="5400000" scaled="0"/>
          </a:gra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Card 3 Icon"/>
          <p:cNvSpPr/>
          <p:nvPr/>
        </p:nvSpPr>
        <p:spPr>
          <a:xfrm>
            <a:off x="8300000" y="1600000"/>
            <a:ext cx="400000" cy="400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UI"/>
              </a:rPr>
              <a:t>DB</a:t>
            </a:r>
          </a:p>
        </p:txBody>
      </p:sp>
      <p:sp>
        <p:nvSpPr>
          <p:cNvPr id="43" name="Card 3 Title"/>
          <p:cNvSpPr/>
          <p:nvPr/>
        </p:nvSpPr>
        <p:spPr>
          <a:xfrm>
            <a:off x="8200000" y="2200000"/>
            <a:ext cx="3000000" cy="400000"/>
          </a:xfrm>
          <a:prstGeom prst="rect">
            <a:avLst/>
          </a:prstGeom>
        </p:spPr>
        <p:txBody>
          <a:bodyPr anchor="b"/>
          <a:lstStyle/>
          <a:p>
            <a:r>
              <a:rPr lang="en-US" sz="2400" b="1">
                <a:solidFill>
                  <a:srgbClr val="2EC4B6"/>
                </a:solidFill>
                <a:latin typeface="Segoe UI"/>
              </a:rPr>
              <a:t>Database</a:t>
            </a:r>
          </a:p>
        </p:txBody>
      </p:sp>
      <p:sp>
        <p:nvSpPr>
          <p:cNvPr id="44" name="Card 3 Content"/>
          <p:cNvSpPr/>
          <p:nvPr/>
        </p:nvSpPr>
        <p:spPr>
          <a:xfrm>
            <a:off x="8200000" y="2650000"/>
            <a:ext cx="3000000" cy="3200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E0E1DD"/>
                </a:solidFill>
                <a:latin typeface="Segoe UI"/>
              </a:rPr>
              <a:t>SQL</a:t>
            </a:r>
          </a:p>
          <a:p>
            <a:r>
              <a:rPr lang="en-US" sz="1400">
                <a:solidFill>
                  <a:srgbClr val="778DA9"/>
                </a:solidFill>
                <a:latin typeface="Segoe UI"/>
              </a:rPr>
              <a:t>PostgreSQL / MySQL / SQLite</a:t>
            </a:r>
          </a:p>
          <a:p>
            <a:endParaRPr lang="en-US" sz="800"/>
          </a:p>
          <a:p>
            <a:r>
              <a:rPr lang="en-US" sz="1600">
                <a:solidFill>
                  <a:srgbClr val="E0E1DD"/>
                </a:solidFill>
                <a:latin typeface="Segoe UI"/>
              </a:rPr>
              <a:t>NoSQL</a:t>
            </a:r>
          </a:p>
          <a:p>
            <a:r>
              <a:rPr lang="en-US" sz="1400">
                <a:solidFill>
                  <a:srgbClr val="778DA9"/>
                </a:solidFill>
                <a:latin typeface="Segoe UI"/>
              </a:rPr>
              <a:t>MongoDB / DynamoDB</a:t>
            </a:r>
          </a:p>
          <a:p>
            <a:endParaRPr lang="en-US" sz="800"/>
          </a:p>
          <a:p>
            <a:r>
              <a:rPr lang="en-US" sz="1600">
                <a:solidFill>
                  <a:srgbClr val="E0E1DD"/>
                </a:solidFill>
                <a:latin typeface="Segoe UI"/>
              </a:rPr>
              <a:t>Cache</a:t>
            </a:r>
          </a:p>
          <a:p>
            <a:r>
              <a:rPr lang="en-US" sz="1400">
                <a:solidFill>
                  <a:srgbClr val="778DA9"/>
                </a:solidFill>
                <a:latin typeface="Segoe UI"/>
              </a:rPr>
              <a:t>Redis / Memcached</a:t>
            </a:r>
          </a:p>
        </p:txBody>
      </p:sp>
      <!-- Page dots -->
      <p:sp>
        <p:nvSpPr>
          <p:cNvPr id="50" name="Dot 1"/>
          <p:cNvSpPr/>
          <p:nvPr/>
        </p:nvSpPr>
        <p:spPr>
          <a:xfrm>
            <a:off x="800000" y="6200000"/>
            <a:ext cx="80000" cy="80000"/>
          </a:xfrm>
          <a:prstGeom prst="ellipse">
            <a:avLst/>
          </a:prstGeom>
          <a:solidFill>
            <a:srgbClr val="415A77">
              <a:alpha val="5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Dot 2"/>
          <p:cNvSpPr/>
          <p:nvPr/>
        </p:nvSpPr>
        <p:spPr>
          <a:xfrm>
            <a:off x="920000" y="6200000"/>
            <a:ext cx="80000" cy="80000"/>
          </a:xfrm>
          <a:prstGeom prst="ellipse">
            <a:avLst/>
          </a:prstGeom>
          <a:solidFill>
            <a:srgbClr val="415A77">
              <a:alpha val="5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Dot 3"/>
          <p:cNvSpPr/>
          <p:nvPr/>
        </p:nvSpPr>
        <p:spPr>
          <a:xfrm>
            <a:off x="1040000" y="6200000"/>
            <a:ext cx="80000" cy="80000"/>
          </a:xfrm>
          <a:prstGeom prst="ellipse">
            <a:avLst/>
          </a:prstGeom>
          <a:solidFill>
            <a:srgbClr val="00D4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Dot 4"/>
          <p:cNvSpPr/>
          <p:nvPr/>
        </p:nvSpPr>
        <p:spPr>
          <a:xfrm>
            <a:off x="1160000" y="6200000"/>
            <a:ext cx="80000" cy="80000"/>
          </a:xfrm>
          <a:prstGeom prst="ellipse">
            <a:avLst/>
          </a:prstGeom>
          <a:solidFill>
            <a:srgbClr val="415A77">
              <a:alpha val="5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Dot 5"/>
          <p:cNvSpPr/>
          <p:nvPr/>
        </p:nvSpPr>
        <p:spPr>
          <a:xfrm>
            <a:off x="1280000" y="6200000"/>
            <a:ext cx="80000" cy="80000"/>
          </a:xfrm>
          <a:prstGeom prst="ellipse">
            <a:avLst/>
          </a:prstGeom>
          <a:solidFill>
            <a:srgbClr val="415A77">
              <a:alpha val="5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-->
      <p:sp>
        <p:nvSpPr>
          <p:cNvPr id="2" name="Title"/>
          <p:cNvSpPr/>
          <p:nvPr/>
        </p:nvSpPr>
        <p:spPr>
          <a:xfrm>
            <a:off x="800000" y="300000"/>
            <a:ext cx="10592000" cy="700000"/>
          </a:xfrm>
          <a:prstGeom prst="rect">
            <a:avLst/>
          </a:prstGeom>
        </p:spPr>
        <p:txBody>
          <a:bodyPr anchor="b"/>
          <a:lstStyle/>
          <a:p>
            <a:pPr algn="l"/>
            <a:r>
              <a:rPr lang="en-US" sz="4000" b="1">
                <a:solidFill>
                  <a:srgbClr val="FFFFFF"/>
                </a:solidFill>
                <a:latin typeface="Segoe UI Light"/>
              </a:rPr>
              <a:t>Development </a:t>
            </a:r>
            <a:r>
              <a:rPr lang="en-US" sz="4000" b="1">
                <a:solidFill>
                  <a:srgbClr val="00D4FF"/>
                </a:solidFill>
                <a:latin typeface="Segoe UI Light"/>
              </a:rPr>
              <a:t>Workflow</a:t>
            </a:r>
          </a:p>
        </p:txBody>
      </p:sp>
      <!-- Accent bar -->
      <p:sp>
        <p:nvSpPr>
          <p:cNvPr id="3" name="Accent"/>
          <p:cNvSpPr/>
          <p:nvPr/>
        </p:nvSpPr>
        <p:spPr>
          <a:xfrm>
            <a:off x="800000" y="1000000"/>
            <a:ext cx="1500000" cy="400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7B2CBF"/>
              </a:gs>
            </a:gsLst>
            <a:lin ang="0" scaled="0"/>
          </a:gradFill>
          <a:ln w="0">
            <a:noFill/>
          </a:ln>
        </p:spPr>
        <p:txBody>
          <a:bodyPr/>
          <a:lstStyle/>
          <a:p>
            <a:endParaRPr/>
          </a:p>
        </p:txBody>
      </p:sp>
      <!-- Timeline Line -->
      <p:sp>
        <p:nvSpPr>
          <p:cNvPr id="5" name="Timeline"/>
          <p:cNvSpPr/>
          <p:nvPr/>
        </p:nvSpPr>
        <p:spPr>
          <a:xfrm>
            <a:off x="1200000" y="3400000"/>
            <a:ext cx="10000000" cy="30000"/>
          </a:xfrm>
          <a:prstGeom prst="rect">
            <a:avLst/>
          </a:prstGeom>
          <a:gradFill>
            <a:gsLst>
              <a:gs pos="0">
                <a:srgbClr val="00D4FF"/>
              </a:gs>
              <a:gs pos="25000">
                <a:srgbClr val="7B2CBF"/>
              </a:gs>
              <a:gs pos="50000">
                <a:srgbClr val="E63946"/>
              </a:gs>
              <a:gs pos="75000">
                <a:srgbClr val="2EC4B6"/>
              </a:gs>
              <a:gs pos="100000">
                <a:srgbClr val="FF6B6B"/>
              </a:gs>
            </a:gsLst>
            <a:lin ang="0" scaled="0"/>
          </a:gradFill>
          <a:ln w="0">
            <a:noFill/>
          </a:ln>
        </p:spPr>
        <p:txBody>
          <a:bodyPr/>
          <a:lstStyle/>
          <a:p>
            <a:endParaRPr/>
          </a:p>
        </p:txBody>
      </p:sp>
      <!-- Step 1 -->
      <p:sp>
        <p:nvSpPr>
          <p:cNvPr id="10" name="Step 1 Circle"/>
          <p:cNvSpPr/>
          <p:nvPr/>
        </p:nvSpPr>
        <p:spPr>
          <a:xfrm>
            <a:off x="1000000" y="3200000"/>
            <a:ext cx="400000" cy="400000"/>
          </a:xfrm>
          <a:prstGeom prst="ellipse">
            <a:avLst/>
          </a:prstGeom>
          <a:solidFill>
            <a:srgbClr val="00D4FF"/>
          </a:solidFill>
          <a:ln w="0"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0D1B2A"/>
                </a:solidFill>
                <a:latin typeface="Segoe UI"/>
              </a:rPr>
              <a:t>1</a:t>
            </a:r>
          </a:p>
        </p:txBody>
      </p:sp>
      <p:sp>
        <p:nvSpPr>
          <p:cNvPr id="11" name="Step 1 Title"/>
          <p:cNvSpPr/>
          <p:nvPr/>
        </p:nvSpPr>
        <p:spPr>
          <a:xfrm>
            <a:off x="800000" y="1400000"/>
            <a:ext cx="2000000" cy="400000"/>
          </a:xfrm>
          <a:prstGeom prst="rect">
            <a:avLst/>
          </a:prstGeom>
        </p:spPr>
        <p:txBody>
          <a:bodyPr anchor="b"/>
          <a:lstStyle/>
          <a:p>
            <a:pPr algn="ctr"/>
            <a:r>
              <a:rPr lang="en-US" sz="1800" b="1">
                <a:solidFill>
                  <a:srgbClr val="00D4FF"/>
                </a:solidFill>
                <a:latin typeface="Segoe UI"/>
              </a:rPr>
              <a:t>Plan &amp; Design</a:t>
            </a:r>
          </a:p>
        </p:txBody>
      </p:sp>
      <p:sp>
        <p:nvSpPr>
          <p:cNvPr id="12" name="Step 1 Desc"/>
          <p:cNvSpPr/>
          <p:nvPr/>
        </p:nvSpPr>
        <p:spPr>
          <a:xfrm>
            <a:off x="800000" y="1800000"/>
            <a:ext cx="2000000" cy="120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200">
                <a:solidFill>
                  <a:srgbClr val="778DA9"/>
                </a:solidFill>
                <a:latin typeface="Segoe UI"/>
              </a:rPr>
              <a:t>Requirements</a:t>
            </a:r>
          </a:p>
          <a:p>
            <a:pPr algn="ctr"/>
            <a:r>
              <a:rPr lang="en-US" sz="1200">
                <a:solidFill>
                  <a:srgbClr val="778DA9"/>
                </a:solidFill>
                <a:latin typeface="Segoe UI"/>
              </a:rPr>
              <a:t>Wireframes</a:t>
            </a:r>
          </a:p>
          <a:p>
            <a:pPr algn="ctr"/>
            <a:r>
              <a:rPr lang="en-US" sz="1200">
                <a:solidFill>
                  <a:srgbClr val="778DA9"/>
                </a:solidFill>
                <a:latin typeface="Segoe UI"/>
              </a:rPr>
              <a:t>DB Schema</a:t>
            </a:r>
          </a:p>
        </p:txBody>
      </p:sp>
      <!-- Step 2 -->
      <p:sp>
        <p:nvSpPr>
          <p:cNvPr id="20" name="Step 2 Circle"/>
          <p:cNvSpPr/>
          <p:nvPr/>
        </p:nvSpPr>
        <p:spPr>
          <a:xfrm>
            <a:off x="3200000" y="3200000"/>
            <a:ext cx="400000" cy="400000"/>
          </a:xfrm>
          <a:prstGeom prst="ellipse">
            <a:avLst/>
          </a:prstGeom>
          <a:solidFill>
            <a:srgbClr val="7B2CBF"/>
          </a:solidFill>
          <a:ln w="0"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1" name="Step 2 Title"/>
          <p:cNvSpPr/>
          <p:nvPr/>
        </p:nvSpPr>
        <p:spPr>
          <a:xfrm>
            <a:off x="3000000" y="3700000"/>
            <a:ext cx="2000000" cy="400000"/>
          </a:xfrm>
          <a:prstGeom prst="rect">
            <a:avLst/>
          </a:prstGeom>
        </p:spPr>
        <p:txBody>
          <a:bodyPr anchor="t"/>
          <a:lstStyle/>
          <a:p>
            <a:pPr algn="ctr"/>
            <a:r>
              <a:rPr lang="en-US" sz="1800" b="1">
                <a:solidFill>
                  <a:srgbClr val="7B2CBF"/>
                </a:solidFill>
                <a:latin typeface="Segoe UI"/>
              </a:rPr>
              <a:t>Setup</a:t>
            </a:r>
          </a:p>
        </p:txBody>
      </p:sp>
      <p:sp>
        <p:nvSpPr>
          <p:cNvPr id="22" name="Step 2 Desc"/>
          <p:cNvSpPr/>
          <p:nvPr/>
        </p:nvSpPr>
        <p:spPr>
          <a:xfrm>
            <a:off x="3000000" y="4100000"/>
            <a:ext cx="2000000" cy="120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200">
                <a:solidFill>
                  <a:srgbClr val="778DA9"/>
                </a:solidFill>
                <a:latin typeface="Segoe UI"/>
              </a:rPr>
              <a:t>Environment</a:t>
            </a:r>
          </a:p>
          <a:p>
            <a:pPr algn="ctr"/>
            <a:r>
              <a:rPr lang="en-US" sz="1200">
                <a:solidFill>
                  <a:srgbClr val="778DA9"/>
                </a:solidFill>
                <a:latin typeface="Segoe UI"/>
              </a:rPr>
              <a:t>Git / CI-CD</a:t>
            </a:r>
          </a:p>
          <a:p>
            <a:pPr algn="ctr"/>
            <a:r>
              <a:rPr lang="en-US" sz="1200">
                <a:solidFill>
                  <a:srgbClr val="778DA9"/>
                </a:solidFill>
                <a:latin typeface="Segoe UI"/>
              </a:rPr>
              <a:t>Build Tools</a:t>
            </a:r>
          </a:p>
        </p:txBody>
      </p:sp>
      <!-- Step 3 -->
      <p:sp>
        <p:nvSpPr>
          <p:cNvPr id="30" name="Step 3 Circle"/>
          <p:cNvSpPr/>
          <p:nvPr/>
        </p:nvSpPr>
        <p:spPr>
          <a:xfrm>
            <a:off x="5400000" y="3200000"/>
            <a:ext cx="400000" cy="4000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1" name="Step 3 Title"/>
          <p:cNvSpPr/>
          <p:nvPr/>
        </p:nvSpPr>
        <p:spPr>
          <a:xfrm>
            <a:off x="5200000" y="1400000"/>
            <a:ext cx="2000000" cy="400000"/>
          </a:xfrm>
          <a:prstGeom prst="rect">
            <a:avLst/>
          </a:prstGeom>
        </p:spPr>
        <p:txBody>
          <a:bodyPr anchor="b"/>
          <a:lstStyle/>
          <a:p>
            <a:pPr algn="ctr"/>
            <a:r>
              <a:rPr lang="en-US" sz="1800" b="1">
                <a:solidFill>
                  <a:srgbClr val="E63946"/>
                </a:solidFill>
                <a:latin typeface="Segoe UI"/>
              </a:rPr>
              <a:t>Build Backend</a:t>
            </a:r>
          </a:p>
        </p:txBody>
      </p:sp>
      <p:sp>
        <p:nvSpPr>
          <p:cNvPr id="32" name="Step 3 Desc"/>
          <p:cNvSpPr/>
          <p:nvPr/>
        </p:nvSpPr>
        <p:spPr>
          <a:xfrm>
            <a:off x="5200000" y="1800000"/>
            <a:ext cx="2000000" cy="120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200">
                <a:solidFill>
                  <a:srgbClr val="778DA9"/>
                </a:solidFill>
                <a:latin typeface="Segoe UI"/>
              </a:rPr>
              <a:t>API Routes</a:t>
            </a:r>
          </a:p>
          <a:p>
            <a:pPr algn="ctr"/>
            <a:r>
              <a:rPr lang="en-US" sz="1200">
                <a:solidFill>
                  <a:srgbClr val="778DA9"/>
                </a:solidFill>
                <a:latin typeface="Segoe UI"/>
              </a:rPr>
              <a:t>Business Logic</a:t>
            </a:r>
          </a:p>
          <a:p>
            <a:pPr algn="ctr"/>
            <a:r>
              <a:rPr lang="en-US" sz="1200">
                <a:solidFill>
                  <a:srgbClr val="778DA9"/>
                </a:solidFill>
                <a:latin typeface="Segoe UI"/>
              </a:rPr>
              <a:t>Database</a:t>
            </a:r>
          </a:p>
        </p:txBody>
      </p:sp>
      <!-- Step 4 -->
      <p:sp>
        <p:nvSpPr>
          <p:cNvPr id="40" name="Step 4 Circle"/>
          <p:cNvSpPr/>
          <p:nvPr/>
        </p:nvSpPr>
        <p:spPr>
          <a:xfrm>
            <a:off x="7600000" y="3200000"/>
            <a:ext cx="400000" cy="400000"/>
          </a:xfrm>
          <a:prstGeom prst="ellipse">
            <a:avLst/>
          </a:prstGeom>
          <a:solidFill>
            <a:srgbClr val="2EC4B6"/>
          </a:solidFill>
          <a:ln w="0"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0D1B2A"/>
                </a:solidFill>
                <a:latin typeface="Segoe UI"/>
              </a:rPr>
              <a:t>4</a:t>
            </a:r>
          </a:p>
        </p:txBody>
      </p:sp>
      <p:sp>
        <p:nvSpPr>
          <p:cNvPr id="41" name="Step 4 Title"/>
          <p:cNvSpPr/>
          <p:nvPr/>
        </p:nvSpPr>
        <p:spPr>
          <a:xfrm>
            <a:off x="7400000" y="3700000"/>
            <a:ext cx="2000000" cy="400000"/>
          </a:xfrm>
          <a:prstGeom prst="rect">
            <a:avLst/>
          </a:prstGeom>
        </p:spPr>
        <p:txBody>
          <a:bodyPr anchor="t"/>
          <a:lstStyle/>
          <a:p>
            <a:pPr algn="ctr"/>
            <a:r>
              <a:rPr lang="en-US" sz="1800" b="1">
                <a:solidFill>
                  <a:srgbClr val="2EC4B6"/>
                </a:solidFill>
                <a:latin typeface="Segoe UI"/>
              </a:rPr>
              <a:t>Build Frontend</a:t>
            </a:r>
          </a:p>
        </p:txBody>
      </p:sp>
      <p:sp>
        <p:nvSpPr>
          <p:cNvPr id="42" name="Step 4 Desc"/>
          <p:cNvSpPr/>
          <p:nvPr/>
        </p:nvSpPr>
        <p:spPr>
          <a:xfrm>
            <a:off x="7400000" y="4100000"/>
            <a:ext cx="2000000" cy="120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200">
                <a:solidFill>
                  <a:srgbClr val="778DA9"/>
                </a:solidFill>
                <a:latin typeface="Segoe UI"/>
              </a:rPr>
              <a:t>UI Components</a:t>
            </a:r>
          </a:p>
          <a:p>
            <a:pPr algn="ctr"/>
            <a:r>
              <a:rPr lang="en-US" sz="1200">
                <a:solidFill>
                  <a:srgbClr val="778DA9"/>
                </a:solidFill>
                <a:latin typeface="Segoe UI"/>
              </a:rPr>
              <a:t>API Integration</a:t>
            </a:r>
          </a:p>
          <a:p>
            <a:pPr algn="ctr"/>
            <a:r>
              <a:rPr lang="en-US" sz="1200">
                <a:solidFill>
                  <a:srgbClr val="778DA9"/>
                </a:solidFill>
                <a:latin typeface="Segoe UI"/>
              </a:rPr>
              <a:t>State Mgmt</a:t>
            </a:r>
          </a:p>
        </p:txBody>
      </p:sp>
      <!-- Step 5 -->
      <p:sp>
        <p:nvSpPr>
          <p:cNvPr id="50" name="Step 5 Circle"/>
          <p:cNvSpPr/>
          <p:nvPr/>
        </p:nvSpPr>
        <p:spPr>
          <a:xfrm>
            <a:off x="9800000" y="3200000"/>
            <a:ext cx="400000" cy="40000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51" name="Step 5 Title"/>
          <p:cNvSpPr/>
          <p:nvPr/>
        </p:nvSpPr>
        <p:spPr>
          <a:xfrm>
            <a:off x="9600000" y="1400000"/>
            <a:ext cx="2000000" cy="400000"/>
          </a:xfrm>
          <a:prstGeom prst="rect">
            <a:avLst/>
          </a:prstGeom>
        </p:spPr>
        <p:txBody>
          <a:bodyPr anchor="b"/>
          <a:lstStyle/>
          <a:p>
            <a:pPr algn="ctr"/>
            <a:r>
              <a:rPr lang="en-US" sz="1800" b="1">
                <a:solidFill>
                  <a:srgbClr val="FF6B6B"/>
                </a:solidFill>
                <a:latin typeface="Segoe UI"/>
              </a:rPr>
              <a:t>Test &amp; Deploy</a:t>
            </a:r>
          </a:p>
        </p:txBody>
      </p:sp>
      <p:sp>
        <p:nvSpPr>
          <p:cNvPr id="52" name="Step 5 Desc"/>
          <p:cNvSpPr/>
          <p:nvPr/>
        </p:nvSpPr>
        <p:spPr>
          <a:xfrm>
            <a:off x="9600000" y="1800000"/>
            <a:ext cx="2000000" cy="120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200">
                <a:solidFill>
                  <a:srgbClr val="778DA9"/>
                </a:solidFill>
                <a:latin typeface="Segoe UI"/>
              </a:rPr>
              <a:t>Unit / E2E Tests</a:t>
            </a:r>
          </a:p>
          <a:p>
            <a:pPr algn="ctr"/>
            <a:r>
              <a:rPr lang="en-US" sz="1200">
                <a:solidFill>
                  <a:srgbClr val="778DA9"/>
                </a:solidFill>
                <a:latin typeface="Segoe UI"/>
              </a:rPr>
              <a:t>CI/CD Pipeline</a:t>
            </a:r>
          </a:p>
          <a:p>
            <a:pPr algn="ctr"/>
            <a:r>
              <a:rPr lang="en-US" sz="1200">
                <a:solidFill>
                  <a:srgbClr val="778DA9"/>
                </a:solidFill>
                <a:latin typeface="Segoe UI"/>
              </a:rPr>
              <a:t>Cloud Deploy</a:t>
            </a:r>
          </a:p>
        </p:txBody>
      </p:sp>
      <!-- Page dots -->
      <p:sp>
        <p:nvSpPr>
          <p:cNvPr id="60" name="Dot 1"/>
          <p:cNvSpPr/>
          <p:nvPr/>
        </p:nvSpPr>
        <p:spPr>
          <a:xfrm>
            <a:off x="800000" y="6200000"/>
            <a:ext cx="80000" cy="80000"/>
          </a:xfrm>
          <a:prstGeom prst="ellipse">
            <a:avLst/>
          </a:prstGeom>
          <a:solidFill>
            <a:srgbClr val="415A77">
              <a:alpha val="5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Dot 2"/>
          <p:cNvSpPr/>
          <p:nvPr/>
        </p:nvSpPr>
        <p:spPr>
          <a:xfrm>
            <a:off x="920000" y="6200000"/>
            <a:ext cx="80000" cy="80000"/>
          </a:xfrm>
          <a:prstGeom prst="ellipse">
            <a:avLst/>
          </a:prstGeom>
          <a:solidFill>
            <a:srgbClr val="415A77">
              <a:alpha val="5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Dot 3"/>
          <p:cNvSpPr/>
          <p:nvPr/>
        </p:nvSpPr>
        <p:spPr>
          <a:xfrm>
            <a:off x="1040000" y="6200000"/>
            <a:ext cx="80000" cy="80000"/>
          </a:xfrm>
          <a:prstGeom prst="ellipse">
            <a:avLst/>
          </a:prstGeom>
          <a:solidFill>
            <a:srgbClr val="415A77">
              <a:alpha val="5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Dot 4"/>
          <p:cNvSpPr/>
          <p:nvPr/>
        </p:nvSpPr>
        <p:spPr>
          <a:xfrm>
            <a:off x="1160000" y="6200000"/>
            <a:ext cx="80000" cy="80000"/>
          </a:xfrm>
          <a:prstGeom prst="ellipse">
            <a:avLst/>
          </a:prstGeom>
          <a:solidFill>
            <a:srgbClr val="00D4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Dot 5"/>
          <p:cNvSpPr/>
          <p:nvPr/>
        </p:nvSpPr>
        <p:spPr>
          <a:xfrm>
            <a:off x="1280000" y="6200000"/>
            <a:ext cx="80000" cy="80000"/>
          </a:xfrm>
          <a:prstGeom prst="ellipse">
            <a:avLst/>
          </a:prstGeom>
          <a:solidFill>
            <a:srgbClr val="415A77">
              <a:alpha val="5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Large decorative gradient circle -->
      <p:sp>
        <p:nvSpPr>
          <p:cNvPr id="10" name="Deco Circle"/>
          <p:cNvSpPr/>
          <p:nvPr/>
        </p:nvSpPr>
        <p:spPr>
          <a:xfrm>
            <a:off x="7500000" y="1500000"/>
            <a:ext cx="5000000" cy="5000000"/>
          </a:xfrm>
          <a:prstGeom prst="ellipse">
            <a:avLst/>
          </a:prstGeom>
          <a:gradFill rotWithShape="1">
            <a:gsLst>
              <a:gs pos="0">
                <a:srgbClr val="00D4FF">
                  <a:alpha val="20000"/>
                </a:srgbClr>
              </a:gs>
              <a:gs pos="50000">
                <a:srgbClr val="7B2CBF">
                  <a:alpha val="15000"/>
                </a:srgbClr>
              </a:gs>
              <a:gs pos="100000">
                <a:srgbClr val="E63946">
                  <a:alpha val="5000"/>
                </a:srgbClr>
              </a:gs>
            </a:gsLst>
            <a:lin ang="2700000" scaled="0"/>
          </a:gradFill>
          <a:ln w="0">
            <a:noFill/>
          </a:ln>
        </p:spPr>
        <p:txBody>
          <a:bodyPr/>
          <a:lstStyle/>
          <a:p>
            <a:endParaRPr/>
          </a:p>
        </p:txBody>
      </p:sp>
      <!-- Floating decorations -->
      <p:sp>
        <p:nvSpPr>
          <p:cNvPr id="11" name="Float 1"/>
          <p:cNvSpPr/>
          <p:nvPr/>
        </p:nvSpPr>
        <p:spPr>
          <a:xfrm rot="2700000">
            <a:off x="1500000" y="900000"/>
            <a:ext cx="300000" cy="300000"/>
          </a:xfrm>
          <a:prstGeom prst="rect">
            <a:avLst/>
          </a:prstGeom>
          <a:noFill/>
          <a:ln w="19050">
            <a:solidFill>
              <a:srgbClr val="00D4FF">
                <a:alpha val="40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Float 2"/>
          <p:cNvSpPr/>
          <p:nvPr/>
        </p:nvSpPr>
        <p:spPr>
          <a:xfrm>
            <a:off x="10000000" y="1200000"/>
            <a:ext cx="200000" cy="200000"/>
          </a:xfrm>
          <a:prstGeom prst="ellipse">
            <a:avLst/>
          </a:prstGeom>
          <a:solidFill>
            <a:srgbClr val="2EC4B6">
              <a:alpha val="3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Float 3"/>
          <p:cNvSpPr/>
          <p:nvPr/>
        </p:nvSpPr>
        <p:spPr>
          <a:xfrm rot="900000">
            <a:off x="2200000" y="5200000"/>
            <a:ext cx="200000" cy="200000"/>
          </a:xfrm>
          <a:prstGeom prst="triangle">
            <a:avLst/>
          </a:prstGeom>
          <a:noFill/>
          <a:ln w="19050">
            <a:solidFill>
              <a:srgbClr val="7B2CBF">
                <a:alpha val="40000"/>
              </a:srgbClr>
            </a:solidFill>
          </a:ln>
        </p:spPr>
        <p:txBody>
          <a:bodyPr/>
          <a:lstStyle/>
          <a:p>
            <a:endParaRPr/>
          </a:p>
        </p:txBody>
      </p:sp>
      <!-- Main Thank You Text -->
      <p:sp>
        <p:nvSpPr>
          <p:cNvPr id="2" name="Thank You"/>
          <p:cNvSpPr/>
          <p:nvPr/>
        </p:nvSpPr>
        <p:spPr>
          <a:xfrm>
            <a:off x="800000" y="2000000"/>
            <a:ext cx="10592000" cy="120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lang="en-US" sz="7200" b="1">
                <a:solidFill>
                  <a:srgbClr val="FFFFFF"/>
                </a:solidFill>
                <a:latin typeface="Segoe UI Light"/>
              </a:rPr>
              <a:t>Thank </a:t>
            </a:r>
            <a:r>
              <a:rPr lang="en-US" sz="7200" b="1">
                <a:solidFill>
                  <a:srgbClr val="00D4FF"/>
                </a:solidFill>
                <a:latin typeface="Segoe UI Light"/>
              </a:rPr>
              <a:t>You</a:t>
            </a:r>
          </a:p>
        </p:txBody>
      </p:sp>
      <!-- Subtitle -->
      <p:sp>
        <p:nvSpPr>
          <p:cNvPr id="3" name="Questions"/>
          <p:cNvSpPr/>
          <p:nvPr/>
        </p:nvSpPr>
        <p:spPr>
          <a:xfrm>
            <a:off x="800000" y="3300000"/>
            <a:ext cx="10592000" cy="60000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lang="en-US" sz="2800">
                <a:solidFill>
                  <a:srgbClr val="E0E1DD"/>
                </a:solidFill>
                <a:latin typeface="Segoe UI"/>
              </a:rPr>
              <a:t>Questions?</a:t>
            </a:r>
          </a:p>
        </p:txBody>
      </p:sp>
      <!-- Accent bar -->
      <p:sp>
        <p:nvSpPr>
          <p:cNvPr id="4" name="Accent"/>
          <p:cNvSpPr/>
          <p:nvPr/>
        </p:nvSpPr>
        <p:spPr>
          <a:xfrm>
            <a:off x="800000" y="3150000"/>
            <a:ext cx="2500000" cy="50000"/>
          </a:xfrm>
          <a:prstGeom prst="rect">
            <a:avLst/>
          </a:prstGeom>
          <a:gradFill>
            <a:gsLst>
              <a:gs pos="0">
                <a:srgbClr val="00D4FF"/>
              </a:gs>
              <a:gs pos="50000">
                <a:srgbClr val="7B2CBF"/>
              </a:gs>
              <a:gs pos="100000">
                <a:srgbClr val="E63946"/>
              </a:gs>
            </a:gsLst>
            <a:lin ang="0" scaled="0"/>
          </a:gradFill>
          <a:ln w="0">
            <a:noFill/>
          </a:ln>
        </p:spPr>
        <p:txBody>
          <a:bodyPr/>
          <a:lstStyle/>
          <a:p>
            <a:endParaRPr/>
          </a:p>
        </p:txBody>
      </p:sp>
      <!-- Contact info boxes -->
      <p:sp>
        <p:nvSpPr>
          <p:cNvPr id="20" name="Info Box 1"/>
          <p:cNvSpPr/>
          <p:nvPr/>
        </p:nvSpPr>
        <p:spPr>
          <a:xfrm>
            <a:off x="800000" y="4200000"/>
            <a:ext cx="3000000" cy="500000"/>
          </a:xfrm>
          <a:prstGeom prst="roundRect">
            <a:avLst>
              <a:gd name="adj" fmla="val 10000"/>
            </a:avLst>
          </a:prstGeom>
          <a:solidFill>
            <a:srgbClr val="1B263B"/>
          </a:solidFill>
          <a:ln w="12700">
            <a:solidFill>
              <a:srgbClr val="00D4FF">
                <a:alpha val="50000"/>
              </a:srgbClr>
            </a:solidFill>
          </a:ln>
        </p:spPr>
        <p:txBody>
          <a:bodyPr anchor="ctr"/>
          <a:lstStyle/>
          <a:p>
            <a:pPr algn="ctr"/>
            <a:r>
              <a:rPr lang="en-US" sz="1400">
                <a:solidFill>
                  <a:srgbClr val="00D4FF"/>
                </a:solidFill>
                <a:latin typeface="Segoe UI"/>
              </a:rPr>
              <a:t>github.com/your-repo</a:t>
            </a:r>
          </a:p>
        </p:txBody>
      </p:sp>
      <p:sp>
        <p:nvSpPr>
          <p:cNvPr id="21" name="Info Box 2"/>
          <p:cNvSpPr/>
          <p:nvPr/>
        </p:nvSpPr>
        <p:spPr>
          <a:xfrm>
            <a:off x="4000000" y="4200000"/>
            <a:ext cx="3000000" cy="500000"/>
          </a:xfrm>
          <a:prstGeom prst="roundRect">
            <a:avLst>
              <a:gd name="adj" fmla="val 10000"/>
            </a:avLst>
          </a:prstGeom>
          <a:solidFill>
            <a:srgbClr val="1B263B"/>
          </a:solidFill>
          <a:ln w="12700">
            <a:solidFill>
              <a:srgbClr val="7B2CBF">
                <a:alpha val="50000"/>
              </a:srgbClr>
            </a:solidFill>
          </a:ln>
        </p:spPr>
        <p:txBody>
          <a:bodyPr anchor="ctr"/>
          <a:lstStyle/>
          <a:p>
            <a:pPr algn="ctr"/>
            <a:r>
              <a:rPr lang="en-US" sz="1400">
                <a:solidFill>
                  <a:srgbClr val="7B2CBF"/>
                </a:solidFill>
                <a:latin typeface="Segoe UI"/>
              </a:rPr>
              <a:t>@your-twitter</a:t>
            </a:r>
          </a:p>
        </p:txBody>
      </p:sp>
      <p:sp>
        <p:nvSpPr>
          <p:cNvPr id="22" name="Info Box 3"/>
          <p:cNvSpPr/>
          <p:nvPr/>
        </p:nvSpPr>
        <p:spPr>
          <a:xfrm>
            <a:off x="7200000" y="4200000"/>
            <a:ext cx="3000000" cy="500000"/>
          </a:xfrm>
          <a:prstGeom prst="roundRect">
            <a:avLst>
              <a:gd name="adj" fmla="val 10000"/>
            </a:avLst>
          </a:prstGeom>
          <a:solidFill>
            <a:srgbClr val="1B263B"/>
          </a:solidFill>
          <a:ln w="12700">
            <a:solidFill>
              <a:srgbClr val="2EC4B6">
                <a:alpha val="50000"/>
              </a:srgbClr>
            </a:solidFill>
          </a:ln>
        </p:spPr>
        <p:txBody>
          <a:bodyPr anchor="ctr"/>
          <a:lstStyle/>
          <a:p>
            <a:pPr algn="ctr"/>
            <a:r>
              <a:rPr lang="en-US" sz="1400">
                <a:solidFill>
                  <a:srgbClr val="2EC4B6"/>
                </a:solidFill>
                <a:latin typeface="Segoe UI"/>
              </a:rPr>
              <a:t>hello@example.com</a:t>
            </a:r>
          </a:p>
        </p:txBody>
      </p:sp>
      <!-- Page dots -->
      <p:sp>
        <p:nvSpPr>
          <p:cNvPr id="30" name="Dot 1"/>
          <p:cNvSpPr/>
          <p:nvPr/>
        </p:nvSpPr>
        <p:spPr>
          <a:xfrm>
            <a:off x="800000" y="6200000"/>
            <a:ext cx="80000" cy="80000"/>
          </a:xfrm>
          <a:prstGeom prst="ellipse">
            <a:avLst/>
          </a:prstGeom>
          <a:solidFill>
            <a:srgbClr val="415A77">
              <a:alpha val="5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Dot 2"/>
          <p:cNvSpPr/>
          <p:nvPr/>
        </p:nvSpPr>
        <p:spPr>
          <a:xfrm>
            <a:off x="920000" y="6200000"/>
            <a:ext cx="80000" cy="80000"/>
          </a:xfrm>
          <a:prstGeom prst="ellipse">
            <a:avLst/>
          </a:prstGeom>
          <a:solidFill>
            <a:srgbClr val="415A77">
              <a:alpha val="5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Dot 3"/>
          <p:cNvSpPr/>
          <p:nvPr/>
        </p:nvSpPr>
        <p:spPr>
          <a:xfrm>
            <a:off x="1040000" y="6200000"/>
            <a:ext cx="80000" cy="80000"/>
          </a:xfrm>
          <a:prstGeom prst="ellipse">
            <a:avLst/>
          </a:prstGeom>
          <a:solidFill>
            <a:srgbClr val="415A77">
              <a:alpha val="5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Dot 4"/>
          <p:cNvSpPr/>
          <p:nvPr/>
        </p:nvSpPr>
        <p:spPr>
          <a:xfrm>
            <a:off x="1160000" y="6200000"/>
            <a:ext cx="80000" cy="80000"/>
          </a:xfrm>
          <a:prstGeom prst="ellipse">
            <a:avLst/>
          </a:prstGeom>
          <a:solidFill>
            <a:srgbClr val="415A77">
              <a:alpha val="5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Dot 5"/>
          <p:cNvSpPr/>
          <p:nvPr/>
        </p:nvSpPr>
        <p:spPr>
          <a:xfrm>
            <a:off x="1280000" y="6200000"/>
            <a:ext cx="80000" cy="80000"/>
          </a:xfrm>
          <a:prstGeom prst="ellipse">
            <a:avLst/>
          </a:prstGeom>
          <a:solidFill>
            <a:srgbClr val="00D4FF"/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ern Dark">
  <a:themeElements>
    <a:clrScheme name="Modern Gradient">
      <a:dk1>
        <a:srgbClr val="0D1B2A"/>
      </a:dk1>
      <a:lt1>
        <a:srgbClr val="FFFFFF"/>
      </a:lt1>
      <a:dk2>
        <a:srgbClr val="1B263B"/>
      </a:dk2>
      <a:lt2>
        <a:srgbClr val="E0E1DD"/>
      </a:lt2>
      <a:accent1>
        <a:srgbClr val="00D4FF"/>
      </a:accent1>
      <a:accent2>
        <a:srgbClr val="7B2CBF"/>
      </a:accent2>
      <a:accent3>
        <a:srgbClr val="E63946"/>
      </a:accent3>
      <a:accent4>
        <a:srgbClr val="2EC4B6"/>
      </a:accent4>
      <a:accent5>
        <a:srgbClr val="FF6B6B"/>
      </a:accent5>
      <a:accent6>
        <a:srgbClr val="4ECDC4"/>
      </a:accent6>
      <a:hlink>
        <a:srgbClr val="00D4FF"/>
      </a:hlink>
      <a:folHlink>
        <a:srgbClr val="7B2CBF"/>
      </a:folHlink>
    </a:clrScheme>
    <a:fontScheme name="Modern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Moder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